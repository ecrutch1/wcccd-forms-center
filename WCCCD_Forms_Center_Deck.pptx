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732ee0c-fcc6-629b-b0e5-87c6064eb394}">
          <p14:sldIdLst>
            <p14:sldId id="256"/>
          </p14:sldIdLst>
        </p14:section>
        <p14:section name="The plan" id="{d16892b1-9099-0151-a063-95362301696c}">
          <p14:sldIdLst>
            <p14:sldId id="257"/>
            <p14:sldId id="258"/>
          </p14:sldIdLst>
        </p14:section>
        <p14:section name="Proposed portal" id="{c5de35d9-618c-1634-2ce0-196b88853446}">
          <p14:sldIdLst>
            <p14:sldId id="259"/>
            <p14:sldId id="260"/>
          </p14:sldIdLst>
        </p14:section>
        <p14:section name="How it is built" id="{09f48fbb-d294-e90c-f040-d59d32e785b5}">
          <p14:sldIdLst>
            <p14:sldId id="261"/>
            <p14:sldId id="262"/>
          </p14:sldIdLst>
        </p14:section>
        <p14:section name="Next steps" id="{6103455d-2e36-07d5-ed2d-84be3c06cbdd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Forms Center: one framework for internal forms, secure external submissions, and request tracking, starting with an IT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SharePoint is the proposed foundation, with supporting Microsoft 365 tools selected during detailed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controls are required. A dedicated platform is the fallback if the pilot shows Microsoft 365 cannot meet them, including protection from administrator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homepage. Built with standard SharePoint web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IT landing page. The WCCCD logo stays in the blue banner beside the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 and licensing are confirmed during design and validated through the pilots.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gaps in external intake are resolved before any live solicitation.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00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BLUE">
    <p:bg>
      <p:bgPr>
        <a:solidFill>
          <a:srgbClr val="1F66B2"/>
        </a:solidFill>
      </p:bgPr>
    </p:bg>
    <p:spTree>
      <p:nvGrpSpPr>
        <p:cNvPr id="200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02" name="Text 0"/>
          <p:cNvSpPr/>
          <p:nvPr>
            <p:ph idx="100" type="title" hasCustomPrompt="1"/>
          </p:nvPr>
        </p:nvSpPr>
        <p:spPr>
          <a:xfrm>
            <a:off x="3246120" y="1417320"/>
            <a:ext cx="5486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300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02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</a:rPr>
              <a:t>WCCCD Forms Center  |  Proposed approach for discussion</a:t>
            </a:r>
            <a:endParaRPr lang="en-US" sz="1000" dirty="0"/>
          </a:p>
        </p:txBody>
      </p:sp>
      <p:sp>
        <p:nvSpPr>
          <p:cNvPr id="300003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00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NAVY">
    <p:bg>
      <p:bgPr>
        <a:solidFill>
          <a:srgbClr val="0B2A5B"/>
        </a:solidFill>
      </p:bgPr>
    </p:bg>
    <p:spTree>
      <p:nvGrpSpPr>
        <p:cNvPr id="400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00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0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2" name="Image 0" descr="Wayne County Community College Distri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2194560" cy="1295835"/>
          </a:xfrm>
          <a:prstGeom prst="rect">
            <a:avLst/>
          </a:prstGeom>
        </p:spPr>
      </p:pic>
      <p:sp>
        <p:nvSpPr>
          <p:cNvPr id="1003" name="divider"/>
          <p:cNvSpPr/>
          <p:nvPr/>
        </p:nvSpPr>
        <p:spPr>
          <a:xfrm>
            <a:off x="2971800" y="1463040"/>
            <a:ext cx="0" cy="237744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04" name="Text 0"/>
          <p:cNvSpPr/>
          <p:nvPr>
            <p:ph idx="100" type="title" hasCustomPrompt="1"/>
          </p:nvPr>
        </p:nvSpPr>
        <p:spPr>
          <a:xfrm>
            <a:off x="324612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WCCCD Forms Center</a:t>
            </a:r>
            <a:endParaRPr lang="en-US" sz="3800" dirty="0"/>
          </a:p>
        </p:txBody>
      </p:sp>
      <p:sp>
        <p:nvSpPr>
          <p:cNvPr id="1005" name="subtitle"/>
          <p:cNvSpPr txBox="1"/>
          <p:nvPr/>
        </p:nvSpPr>
        <p:spPr>
          <a:xfrm>
            <a:off x="3246120" y="2697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Enterprise forms, secure submissions, and request tracking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Proposed approach for discussion,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One framework, three requirements, IT pilot first</a:t>
            </a:r>
            <a:endParaRPr lang="en-US" sz="2800" dirty="0"/>
          </a:p>
        </p:txBody>
      </p:sp>
      <p:sp>
        <p:nvSpPr>
          <p:cNvPr id="2003" name="card0"/>
          <p:cNvSpPr/>
          <p:nvPr/>
        </p:nvSpPr>
        <p:spPr>
          <a:xfrm>
            <a:off x="457200" y="123444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2004" name="iconbg0"/>
          <p:cNvSpPr/>
          <p:nvPr/>
        </p:nvSpPr>
        <p:spPr>
          <a:xfrm>
            <a:off x="731520" y="150876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00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664208"/>
            <a:ext cx="374904" cy="374904"/>
          </a:xfrm>
          <a:prstGeom prst="rect">
            <a:avLst/>
          </a:prstGeom>
        </p:spPr>
      </p:pic>
      <p:sp>
        <p:nvSpPr>
          <p:cNvPr id="2006" name="Text 3"/>
          <p:cNvSpPr txBox="1"/>
          <p:nvPr/>
        </p:nvSpPr>
        <p:spPr>
          <a:xfrm>
            <a:off x="73152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Internal forms portal</a:t>
            </a:r>
            <a:endParaRPr lang="en-US" sz="1700" dirty="0"/>
          </a:p>
        </p:txBody>
      </p:sp>
      <p:sp>
        <p:nvSpPr>
          <p:cNvPr id="2007" name="Text 4"/>
          <p:cNvSpPr txBox="1"/>
          <p:nvPr/>
        </p:nvSpPr>
        <p:spPr>
          <a:xfrm>
            <a:off x="731520" y="297180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SharePoint entry point to find, complete, and submit departmental forms. IT first, then HR and others.</a:t>
            </a:r>
            <a:endParaRPr lang="en-US" sz="1400" dirty="0"/>
          </a:p>
        </p:txBody>
      </p:sp>
      <p:sp>
        <p:nvSpPr>
          <p:cNvPr id="2008" name="card1"/>
          <p:cNvSpPr/>
          <p:nvPr/>
        </p:nvSpPr>
        <p:spPr>
          <a:xfrm>
            <a:off x="3291840" y="123444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2009" name="iconbg1"/>
          <p:cNvSpPr/>
          <p:nvPr/>
        </p:nvSpPr>
        <p:spPr>
          <a:xfrm>
            <a:off x="3566160" y="150876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0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664208"/>
            <a:ext cx="374904" cy="374904"/>
          </a:xfrm>
          <a:prstGeom prst="rect">
            <a:avLst/>
          </a:prstGeom>
        </p:spPr>
      </p:pic>
      <p:sp>
        <p:nvSpPr>
          <p:cNvPr id="2011" name="Text 7"/>
          <p:cNvSpPr txBox="1"/>
          <p:nvPr/>
        </p:nvSpPr>
        <p:spPr>
          <a:xfrm>
            <a:off x="356616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Secure external submissions</a:t>
            </a:r>
            <a:endParaRPr lang="en-US" sz="1700" dirty="0"/>
          </a:p>
        </p:txBody>
      </p:sp>
      <p:sp>
        <p:nvSpPr>
          <p:cNvPr id="2012" name="Text 8"/>
          <p:cNvSpPr txBox="1"/>
          <p:nvPr/>
        </p:nvSpPr>
        <p:spPr>
          <a:xfrm>
            <a:off x="3566160" y="297180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Controlled intake of vendor and external files. RFPs need stronger controls than general file collection.</a:t>
            </a:r>
            <a:endParaRPr lang="en-US" sz="1400" dirty="0"/>
          </a:p>
        </p:txBody>
      </p:sp>
      <p:sp>
        <p:nvSpPr>
          <p:cNvPr id="2013" name="card2"/>
          <p:cNvSpPr/>
          <p:nvPr/>
        </p:nvSpPr>
        <p:spPr>
          <a:xfrm>
            <a:off x="6126480" y="123444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2014" name="iconbg2"/>
          <p:cNvSpPr/>
          <p:nvPr/>
        </p:nvSpPr>
        <p:spPr>
          <a:xfrm>
            <a:off x="6400800" y="150876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0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664208"/>
            <a:ext cx="374904" cy="374904"/>
          </a:xfrm>
          <a:prstGeom prst="rect">
            <a:avLst/>
          </a:prstGeom>
        </p:spPr>
      </p:pic>
      <p:sp>
        <p:nvSpPr>
          <p:cNvPr id="2016" name="Text 11"/>
          <p:cNvSpPr txBox="1"/>
          <p:nvPr/>
        </p:nvSpPr>
        <p:spPr>
          <a:xfrm>
            <a:off x="640080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Request lifecycle tracking</a:t>
            </a:r>
            <a:endParaRPr lang="en-US" sz="1700" dirty="0"/>
          </a:p>
        </p:txBody>
      </p:sp>
      <p:sp>
        <p:nvSpPr>
          <p:cNvPr id="2017" name="Text 12"/>
          <p:cNvSpPr txBox="1"/>
          <p:nvPr/>
        </p:nvSpPr>
        <p:spPr>
          <a:xfrm>
            <a:off x="6400800" y="297180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request traced from submission through review, decision, fulfillment, and closure.</a:t>
            </a:r>
            <a:endParaRPr lang="en-US" sz="1400" dirty="0"/>
          </a:p>
        </p:txBody>
      </p:sp>
      <p:sp>
        <p:nvSpPr>
          <p:cNvPr id="2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3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RFP submissions need more than an upload link</a:t>
            </a:r>
            <a:endParaRPr lang="en-US" sz="2800" dirty="0"/>
          </a:p>
        </p:txBody>
      </p:sp>
      <p:sp>
        <p:nvSpPr>
          <p:cNvPr id="3003" name="ctl0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0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362456"/>
            <a:ext cx="246888" cy="246888"/>
          </a:xfrm>
          <a:prstGeom prst="rect">
            <a:avLst/>
          </a:prstGeom>
        </p:spPr>
      </p:pic>
      <p:sp>
        <p:nvSpPr>
          <p:cNvPr id="3005" name="Text 2"/>
          <p:cNvSpPr txBox="1"/>
          <p:nvPr/>
        </p:nvSpPr>
        <p:spPr>
          <a:xfrm>
            <a:off x="1143000" y="1234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Verified vendor identity</a:t>
            </a:r>
            <a:endParaRPr lang="en-US" sz="1600" dirty="0"/>
          </a:p>
        </p:txBody>
      </p:sp>
      <p:sp>
        <p:nvSpPr>
          <p:cNvPr id="3006" name="ctl1"/>
          <p:cNvSpPr/>
          <p:nvPr/>
        </p:nvSpPr>
        <p:spPr>
          <a:xfrm>
            <a:off x="457200" y="189280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0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020824"/>
            <a:ext cx="246888" cy="246888"/>
          </a:xfrm>
          <a:prstGeom prst="rect">
            <a:avLst/>
          </a:prstGeom>
        </p:spPr>
      </p:pic>
      <p:sp>
        <p:nvSpPr>
          <p:cNvPr id="3008" name="Text 4"/>
          <p:cNvSpPr txBox="1"/>
          <p:nvPr/>
        </p:nvSpPr>
        <p:spPr>
          <a:xfrm>
            <a:off x="1143000" y="18928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Enforced submission deadlines</a:t>
            </a:r>
            <a:endParaRPr lang="en-US" sz="1600" dirty="0"/>
          </a:p>
        </p:txBody>
      </p:sp>
      <p:sp>
        <p:nvSpPr>
          <p:cNvPr id="3009" name="ctl2"/>
          <p:cNvSpPr/>
          <p:nvPr/>
        </p:nvSpPr>
        <p:spPr>
          <a:xfrm>
            <a:off x="457200" y="255117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679192"/>
            <a:ext cx="246888" cy="246888"/>
          </a:xfrm>
          <a:prstGeom prst="rect">
            <a:avLst/>
          </a:prstGeom>
        </p:spPr>
      </p:pic>
      <p:sp>
        <p:nvSpPr>
          <p:cNvPr id="3011" name="Text 6"/>
          <p:cNvSpPr txBox="1"/>
          <p:nvPr/>
        </p:nvSpPr>
        <p:spPr>
          <a:xfrm>
            <a:off x="1143000" y="25511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Timestamped receipts</a:t>
            </a:r>
            <a:endParaRPr lang="en-US" sz="1600" dirty="0"/>
          </a:p>
        </p:txBody>
      </p:sp>
      <p:sp>
        <p:nvSpPr>
          <p:cNvPr id="3012" name="ctl3"/>
          <p:cNvSpPr/>
          <p:nvPr/>
        </p:nvSpPr>
        <p:spPr>
          <a:xfrm>
            <a:off x="457200" y="320954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337560"/>
            <a:ext cx="246888" cy="246888"/>
          </a:xfrm>
          <a:prstGeom prst="rect">
            <a:avLst/>
          </a:prstGeom>
        </p:spPr>
      </p:pic>
      <p:sp>
        <p:nvSpPr>
          <p:cNvPr id="3014" name="Text 8"/>
          <p:cNvSpPr txBox="1"/>
          <p:nvPr/>
        </p:nvSpPr>
        <p:spPr>
          <a:xfrm>
            <a:off x="1143000" y="32095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Bids sealed until authorized opening</a:t>
            </a:r>
            <a:endParaRPr lang="en-US" sz="1600" dirty="0"/>
          </a:p>
        </p:txBody>
      </p:sp>
      <p:sp>
        <p:nvSpPr>
          <p:cNvPr id="3015" name="ctl4"/>
          <p:cNvSpPr/>
          <p:nvPr/>
        </p:nvSpPr>
        <p:spPr>
          <a:xfrm>
            <a:off x="457200" y="38679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3995928"/>
            <a:ext cx="246888" cy="246888"/>
          </a:xfrm>
          <a:prstGeom prst="rect">
            <a:avLst/>
          </a:prstGeom>
        </p:spPr>
      </p:pic>
      <p:sp>
        <p:nvSpPr>
          <p:cNvPr id="3017" name="Text 10"/>
          <p:cNvSpPr txBox="1"/>
          <p:nvPr/>
        </p:nvSpPr>
        <p:spPr>
          <a:xfrm>
            <a:off x="1143000" y="38679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vendor sees another’s files</a:t>
            </a:r>
            <a:endParaRPr lang="en-US" sz="1600" dirty="0"/>
          </a:p>
        </p:txBody>
      </p:sp>
      <p:sp>
        <p:nvSpPr>
          <p:cNvPr id="3018" name="note"/>
          <p:cNvSpPr/>
          <p:nvPr/>
        </p:nvSpPr>
        <p:spPr>
          <a:xfrm>
            <a:off x="5394960" y="1234440"/>
            <a:ext cx="329184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3019" name="Text 12"/>
          <p:cNvSpPr txBox="1"/>
          <p:nvPr/>
        </p:nvSpPr>
        <p:spPr>
          <a:xfrm>
            <a:off x="5623560" y="141732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General file collection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Can use a simpler process where appropriate, with confidential handling and access limited to authorized staff.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Validation first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Microsoft 365 can’t meet every RFP control, evaluate a dedicated procurement submission platform.</a:t>
            </a:r>
            <a:endParaRPr lang="en-US" sz="1600" dirty="0"/>
          </a:p>
        </p:txBody>
      </p:sp>
      <p:sp>
        <p:nvSpPr>
          <p:cNvPr id="3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4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Find forms by search, task, or department</a:t>
            </a:r>
            <a:endParaRPr lang="en-US" sz="2800" dirty="0"/>
          </a:p>
        </p:txBody>
      </p:sp>
      <p:pic>
        <p:nvPicPr>
          <p:cNvPr id="4003" name="Image 0" descr="Proposed Forms Center homepage conce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572000" cy="3200400"/>
          </a:xfrm>
          <a:prstGeom prst="rect">
            <a:avLst/>
          </a:prstGeom>
        </p:spPr>
      </p:pic>
      <p:sp>
        <p:nvSpPr>
          <p:cNvPr id="4004" name="frame"/>
          <p:cNvSpPr/>
          <p:nvPr/>
        </p:nvSpPr>
        <p:spPr>
          <a:xfrm>
            <a:off x="457200" y="1188720"/>
            <a:ext cx="4572000" cy="3200400"/>
          </a:xfrm>
          <a:prstGeom prst="rect">
            <a:avLst/>
          </a:prstGeom>
          <a:ln w="9525">
            <a:solidFill>
              <a:srgbClr val="D8DFEA"/>
            </a:solidFill>
            <a:prstDash val="solid"/>
          </a:ln>
        </p:spPr>
      </p:sp>
      <p:sp>
        <p:nvSpPr>
          <p:cNvPr id="4005" name="Text 2"/>
          <p:cNvSpPr txBox="1"/>
          <p:nvPr/>
        </p:nvSpPr>
        <p:spPr>
          <a:xfrm>
            <a:off x="5394960" y="12344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Search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SharePoint header search covers every form.</a:t>
            </a:r>
            <a:endParaRPr lang="en-US" sz="1600" dirty="0"/>
          </a:p>
        </p:txBody>
      </p:sp>
      <p:sp>
        <p:nvSpPr>
          <p:cNvPr id="4006" name="Text 3"/>
          <p:cNvSpPr txBox="1"/>
          <p:nvPr/>
        </p:nvSpPr>
        <p:spPr>
          <a:xfrm>
            <a:off x="5394960" y="2331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Start with a task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people who don’t know which department owns a form.</a:t>
            </a:r>
            <a:endParaRPr lang="en-US" sz="1600" dirty="0"/>
          </a:p>
        </p:txBody>
      </p:sp>
      <p:sp>
        <p:nvSpPr>
          <p:cNvPr id="4007" name="Text 4"/>
          <p:cNvSpPr txBox="1"/>
          <p:nvPr/>
        </p:nvSpPr>
        <p:spPr>
          <a:xfrm>
            <a:off x="5394960" y="3429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Browse by department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live in the pilot; others marked for a later phase.</a:t>
            </a:r>
            <a:endParaRPr lang="en-US" sz="1600" dirty="0"/>
          </a:p>
        </p:txBody>
      </p:sp>
      <p:sp>
        <p:nvSpPr>
          <p:cNvPr id="4008" name="Text 5"/>
          <p:cNvSpPr txBox="1"/>
          <p:nvPr/>
        </p:nvSpPr>
        <p:spPr>
          <a:xfrm>
            <a:off x="457200" y="44622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Concept. Content is illustrative.</a:t>
            </a:r>
            <a:endParaRPr lang="en-US" sz="1000" dirty="0"/>
          </a:p>
        </p:txBody>
      </p:sp>
      <p:sp>
        <p:nvSpPr>
          <p:cNvPr id="4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5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Every form shows how to submit it</a:t>
            </a:r>
            <a:endParaRPr lang="en-US" sz="2800" dirty="0"/>
          </a:p>
        </p:txBody>
      </p:sp>
      <p:pic>
        <p:nvPicPr>
          <p:cNvPr id="5003" name="Image 0" descr="Proposed IT forms landing page conce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572000" cy="3200400"/>
          </a:xfrm>
          <a:prstGeom prst="rect">
            <a:avLst/>
          </a:prstGeom>
        </p:spPr>
      </p:pic>
      <p:sp>
        <p:nvSpPr>
          <p:cNvPr id="5004" name="frame"/>
          <p:cNvSpPr/>
          <p:nvPr/>
        </p:nvSpPr>
        <p:spPr>
          <a:xfrm>
            <a:off x="457200" y="1188720"/>
            <a:ext cx="4572000" cy="3200400"/>
          </a:xfrm>
          <a:prstGeom prst="rect">
            <a:avLst/>
          </a:prstGeom>
          <a:ln w="9525">
            <a:solidFill>
              <a:srgbClr val="D8DFEA"/>
            </a:solidFill>
            <a:prstDash val="solid"/>
          </a:ln>
        </p:spPr>
      </p:sp>
      <p:sp>
        <p:nvSpPr>
          <p:cNvPr id="5005" name="Text 2"/>
          <p:cNvSpPr txBox="1"/>
          <p:nvPr/>
        </p:nvSpPr>
        <p:spPr>
          <a:xfrm>
            <a:off x="5394960" y="12344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Instructions first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Fillable PDF and online form steps, side by side.</a:t>
            </a:r>
            <a:endParaRPr lang="en-US" sz="1600" dirty="0"/>
          </a:p>
        </p:txBody>
      </p:sp>
      <p:sp>
        <p:nvSpPr>
          <p:cNvPr id="5006" name="Text 3"/>
          <p:cNvSpPr txBox="1"/>
          <p:nvPr/>
        </p:nvSpPr>
        <p:spPr>
          <a:xfrm>
            <a:off x="5394960" y="2331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One row per form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Format, how to submit, form ID, and last review date.</a:t>
            </a:r>
            <a:endParaRPr lang="en-US" sz="1600" dirty="0"/>
          </a:p>
        </p:txBody>
      </p:sp>
      <p:sp>
        <p:nvSpPr>
          <p:cNvPr id="5007" name="Text 4"/>
          <p:cNvSpPr txBox="1"/>
          <p:nvPr/>
        </p:nvSpPr>
        <p:spPr>
          <a:xfrm>
            <a:off x="5394960" y="3429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Grouped by category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Accounts and Access, Equipment, Software, Policies.</a:t>
            </a:r>
            <a:endParaRPr lang="en-US" sz="1600" dirty="0"/>
          </a:p>
        </p:txBody>
      </p:sp>
      <p:sp>
        <p:nvSpPr>
          <p:cNvPr id="5008" name="Text 5"/>
          <p:cNvSpPr txBox="1"/>
          <p:nvPr/>
        </p:nvSpPr>
        <p:spPr>
          <a:xfrm>
            <a:off x="457200" y="44622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Concept. Form names, steps, and dates are illustrative.</a:t>
            </a:r>
            <a:endParaRPr lang="en-US" sz="1000" dirty="0"/>
          </a:p>
        </p:txBody>
      </p:sp>
      <p:sp>
        <p:nvSpPr>
          <p:cNvPr id="5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6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Standard SharePoint first, add-ons later</a:t>
            </a:r>
            <a:endParaRPr lang="en-US" sz="2800" dirty="0"/>
          </a:p>
        </p:txBody>
      </p:sp>
      <p:sp>
        <p:nvSpPr>
          <p:cNvPr id="6003" name="colhead0"/>
          <p:cNvSpPr/>
          <p:nvPr/>
        </p:nvSpPr>
        <p:spPr>
          <a:xfrm>
            <a:off x="457200" y="1234440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Standard SharePoint</a:t>
            </a:r>
            <a:endParaRPr lang="en-US" sz="1600" dirty="0"/>
          </a:p>
        </p:txBody>
      </p:sp>
      <p:sp>
        <p:nvSpPr>
          <p:cNvPr id="6004" name="Text 2"/>
          <p:cNvSpPr txBox="1"/>
          <p:nvPr/>
        </p:nvSpPr>
        <p:spPr>
          <a:xfrm>
            <a:off x="457200" y="19659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Communication site, one forms library with metadata, filtered views, Quick Links, header search</a:t>
            </a:r>
            <a:endParaRPr lang="en-US" sz="1400" dirty="0"/>
          </a:p>
        </p:txBody>
      </p:sp>
      <p:sp>
        <p:nvSpPr>
          <p:cNvPr id="6005" name="colhead1"/>
          <p:cNvSpPr/>
          <p:nvPr/>
        </p:nvSpPr>
        <p:spPr>
          <a:xfrm>
            <a:off x="3291840" y="1234440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Microsoft 365 tools</a:t>
            </a:r>
            <a:endParaRPr lang="en-US" sz="1600" dirty="0"/>
          </a:p>
        </p:txBody>
      </p:sp>
      <p:sp>
        <p:nvSpPr>
          <p:cNvPr id="6006" name="Text 4"/>
          <p:cNvSpPr txBox="1"/>
          <p:nvPr/>
        </p:nvSpPr>
        <p:spPr>
          <a:xfrm>
            <a:off x="3291840" y="19659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Microsoft Forms or Power Apps for online forms; Power Automate for routing and review reminders</a:t>
            </a:r>
            <a:endParaRPr lang="en-US" sz="1400" dirty="0"/>
          </a:p>
        </p:txBody>
      </p:sp>
      <p:sp>
        <p:nvSpPr>
          <p:cNvPr id="6007" name="colhead2"/>
          <p:cNvSpPr/>
          <p:nvPr/>
        </p:nvSpPr>
        <p:spPr>
          <a:xfrm>
            <a:off x="6126480" y="1234440"/>
            <a:ext cx="2606040" cy="54864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Optional, later</a:t>
            </a:r>
            <a:endParaRPr lang="en-US" sz="1600" dirty="0"/>
          </a:p>
        </p:txBody>
      </p:sp>
      <p:sp>
        <p:nvSpPr>
          <p:cNvPr id="6008" name="Text 6"/>
          <p:cNvSpPr txBox="1"/>
          <p:nvPr/>
        </p:nvSpPr>
        <p:spPr>
          <a:xfrm>
            <a:off x="6126480" y="19659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PnP Modern Search for an in-page search box with filters, if usage shows the need</a:t>
            </a:r>
            <a:endParaRPr lang="en-US" sz="1400" dirty="0"/>
          </a:p>
        </p:txBody>
      </p:sp>
      <p:sp>
        <p:nvSpPr>
          <p:cNvPr id="6009" name="principle"/>
          <p:cNvSpPr/>
          <p:nvPr/>
        </p:nvSpPr>
        <p:spPr>
          <a:xfrm>
            <a:off x="457200" y="306324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6010" name="Text 8"/>
          <p:cNvSpPr txBox="1"/>
          <p:nvPr/>
        </p:nvSpPr>
        <p:spPr>
          <a:xfrm>
            <a:off x="685800" y="30632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One library, many views.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Adding a department means adding a page and tagging its forms, not rebuilding the site.</a:t>
            </a:r>
            <a:endParaRPr lang="en-US" sz="1500" dirty="0"/>
          </a:p>
        </p:txBody>
      </p:sp>
      <p:sp>
        <p:nvSpPr>
          <p:cNvPr id="6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7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Four phases, starting with an IT pilot</a:t>
            </a:r>
            <a:endParaRPr lang="en-US" sz="2800" dirty="0"/>
          </a:p>
        </p:txBody>
      </p:sp>
      <p:sp>
        <p:nvSpPr>
          <p:cNvPr id="7003" name="link0"/>
          <p:cNvSpPr/>
          <p:nvPr/>
        </p:nvSpPr>
        <p:spPr>
          <a:xfrm>
            <a:off x="1325880" y="1737360"/>
            <a:ext cx="1737360" cy="0"/>
          </a:xfrm>
          <a:prstGeom prst="line">
            <a:avLst/>
          </a:prstGeom>
          <a:noFill/>
          <a:ln w="25400">
            <a:solidFill>
              <a:srgbClr val="B9C6DA"/>
            </a:solidFill>
            <a:prstDash val="solid"/>
          </a:ln>
        </p:spPr>
      </p:sp>
      <p:sp>
        <p:nvSpPr>
          <p:cNvPr id="7004" name="phase0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005" name="Text 3"/>
          <p:cNvSpPr txBox="1"/>
          <p:nvPr/>
        </p:nvSpPr>
        <p:spPr>
          <a:xfrm>
            <a:off x="45720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Confirm</a:t>
            </a:r>
            <a:endParaRPr lang="en-US" sz="1800" dirty="0"/>
          </a:p>
        </p:txBody>
      </p:sp>
      <p:sp>
        <p:nvSpPr>
          <p:cNvPr id="7006" name="Text 4"/>
          <p:cNvSpPr txBox="1"/>
          <p:nvPr/>
        </p:nvSpPr>
        <p:spPr>
          <a:xfrm>
            <a:off x="457200" y="27432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cases, IT forms inventory, standards, licensing review</a:t>
            </a:r>
            <a:endParaRPr lang="en-US" sz="1400" dirty="0"/>
          </a:p>
        </p:txBody>
      </p:sp>
      <p:sp>
        <p:nvSpPr>
          <p:cNvPr id="7007" name="link1"/>
          <p:cNvSpPr/>
          <p:nvPr/>
        </p:nvSpPr>
        <p:spPr>
          <a:xfrm>
            <a:off x="3429000" y="1737360"/>
            <a:ext cx="1737360" cy="0"/>
          </a:xfrm>
          <a:prstGeom prst="line">
            <a:avLst/>
          </a:prstGeom>
          <a:noFill/>
          <a:ln w="25400">
            <a:solidFill>
              <a:srgbClr val="B9C6DA"/>
            </a:solidFill>
            <a:prstDash val="solid"/>
          </a:ln>
        </p:spPr>
      </p:sp>
      <p:sp>
        <p:nvSpPr>
          <p:cNvPr id="7008" name="phase1"/>
          <p:cNvSpPr/>
          <p:nvPr/>
        </p:nvSpPr>
        <p:spPr>
          <a:xfrm>
            <a:off x="265176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7009" name="Text 7"/>
          <p:cNvSpPr txBox="1"/>
          <p:nvPr/>
        </p:nvSpPr>
        <p:spPr>
          <a:xfrm>
            <a:off x="256032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Pilot IT</a:t>
            </a:r>
            <a:endParaRPr lang="en-US" sz="1800" dirty="0"/>
          </a:p>
        </p:txBody>
      </p:sp>
      <p:sp>
        <p:nvSpPr>
          <p:cNvPr id="7010" name="Text 8"/>
          <p:cNvSpPr txBox="1"/>
          <p:nvPr/>
        </p:nvSpPr>
        <p:spPr>
          <a:xfrm>
            <a:off x="2560320" y="27432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Forms library, IT page, one tracked request workflow</a:t>
            </a:r>
            <a:endParaRPr lang="en-US" sz="1400" dirty="0"/>
          </a:p>
        </p:txBody>
      </p:sp>
      <p:sp>
        <p:nvSpPr>
          <p:cNvPr id="7011" name="link2"/>
          <p:cNvSpPr/>
          <p:nvPr/>
        </p:nvSpPr>
        <p:spPr>
          <a:xfrm>
            <a:off x="5532120" y="1737360"/>
            <a:ext cx="1737360" cy="0"/>
          </a:xfrm>
          <a:prstGeom prst="line">
            <a:avLst/>
          </a:prstGeom>
          <a:noFill/>
          <a:ln w="25400">
            <a:solidFill>
              <a:srgbClr val="B9C6DA"/>
            </a:solidFill>
            <a:prstDash val="solid"/>
          </a:ln>
        </p:spPr>
      </p:sp>
      <p:sp>
        <p:nvSpPr>
          <p:cNvPr id="7012" name="phase2"/>
          <p:cNvSpPr/>
          <p:nvPr/>
        </p:nvSpPr>
        <p:spPr>
          <a:xfrm>
            <a:off x="4754880" y="14173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7013" name="Text 11"/>
          <p:cNvSpPr txBox="1"/>
          <p:nvPr/>
        </p:nvSpPr>
        <p:spPr>
          <a:xfrm>
            <a:off x="466344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Validate intake</a:t>
            </a:r>
            <a:endParaRPr lang="en-US" sz="1800" dirty="0"/>
          </a:p>
        </p:txBody>
      </p:sp>
      <p:sp>
        <p:nvSpPr>
          <p:cNvPr id="7014" name="Text 12"/>
          <p:cNvSpPr txBox="1"/>
          <p:nvPr/>
        </p:nvSpPr>
        <p:spPr>
          <a:xfrm>
            <a:off x="4663440" y="27432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Secure file collection and a controlled RFP test</a:t>
            </a:r>
            <a:endParaRPr lang="en-US" sz="1400" dirty="0"/>
          </a:p>
        </p:txBody>
      </p:sp>
      <p:sp>
        <p:nvSpPr>
          <p:cNvPr id="7015" name="phase3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7016" name="Text 14"/>
          <p:cNvSpPr txBox="1"/>
          <p:nvPr/>
        </p:nvSpPr>
        <p:spPr>
          <a:xfrm>
            <a:off x="676656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Expand</a:t>
            </a:r>
            <a:endParaRPr lang="en-US" sz="1800" dirty="0"/>
          </a:p>
        </p:txBody>
      </p:sp>
      <p:sp>
        <p:nvSpPr>
          <p:cNvPr id="7017" name="Text 15"/>
          <p:cNvSpPr txBox="1"/>
          <p:nvPr/>
        </p:nvSpPr>
        <p:spPr>
          <a:xfrm>
            <a:off x="6766560" y="27432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HR and other departments, owners, training</a:t>
            </a:r>
            <a:endParaRPr lang="en-US" sz="1400" dirty="0"/>
          </a:p>
        </p:txBody>
      </p:sp>
      <p:sp>
        <p:nvSpPr>
          <p:cNvPr id="7018" name="Text 16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Durations and resourcing are set in the detailed implementation plan.</a:t>
            </a:r>
            <a:endParaRPr lang="en-US" sz="1200" dirty="0"/>
          </a:p>
        </p:txBody>
      </p:sp>
      <p:sp>
        <p:nvSpPr>
          <p:cNvPr id="70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8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Next steps</a:t>
            </a:r>
            <a:endParaRPr lang="en-US" sz="3200" dirty="0"/>
          </a:p>
        </p:txBody>
      </p:sp>
      <p:sp>
        <p:nvSpPr>
          <p:cNvPr id="8003" name="step0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004" name="Text 2"/>
          <p:cNvSpPr txBox="1"/>
          <p:nvPr/>
        </p:nvSpPr>
        <p:spPr>
          <a:xfrm>
            <a:off x="1371600" y="1463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Confirm the overall direction with the CIO</a:t>
            </a:r>
            <a:endParaRPr lang="en-US" sz="2000" dirty="0"/>
          </a:p>
        </p:txBody>
      </p:sp>
      <p:sp>
        <p:nvSpPr>
          <p:cNvPr id="8005" name="step1"/>
          <p:cNvSpPr/>
          <p:nvPr/>
        </p:nvSpPr>
        <p:spPr>
          <a:xfrm>
            <a:off x="548640" y="23774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006" name="Text 4"/>
          <p:cNvSpPr txBox="1"/>
          <p:nvPr/>
        </p:nvSpPr>
        <p:spPr>
          <a:xfrm>
            <a:off x="1371600" y="2377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Identify the IT forms and the first workflow for the pilot</a:t>
            </a:r>
            <a:endParaRPr lang="en-US" sz="2000" dirty="0"/>
          </a:p>
        </p:txBody>
      </p:sp>
      <p:sp>
        <p:nvSpPr>
          <p:cNvPr id="8007" name="step2"/>
          <p:cNvSpPr/>
          <p:nvPr/>
        </p:nvSpPr>
        <p:spPr>
          <a:xfrm>
            <a:off x="548640" y="32918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8008" name="Text 6"/>
          <p:cNvSpPr txBox="1"/>
          <p:nvPr/>
        </p:nvSpPr>
        <p:spPr>
          <a:xfrm>
            <a:off x="1371600" y="32918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Designate business owners for the three work areas</a:t>
            </a:r>
            <a:endParaRPr lang="en-US" sz="2000" dirty="0"/>
          </a:p>
        </p:txBody>
      </p:sp>
      <p:sp>
        <p:nvSpPr>
          <p:cNvPr id="8009" name="Text 7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These decisions shape the detailed implementation plan and schedule.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CCCD Forms Center">
  <a:themeElements>
    <a:clrScheme name="WCCCD Forms Center">
      <a:dk1>
        <a:srgbClr val="1B2330"/>
      </a:dk1>
      <a:lt1>
        <a:srgbClr val="FFFFFF"/>
      </a:lt1>
      <a:dk2>
        <a:srgbClr val="0B2A5B"/>
      </a:dk2>
      <a:lt2>
        <a:srgbClr val="EEF3FA"/>
      </a:lt2>
      <a:accent1>
        <a:srgbClr val="1F66B2"/>
      </a:accent1>
      <a:accent2>
        <a:srgbClr val="0B2A5B"/>
      </a:accent2>
      <a:accent3>
        <a:srgbClr val="0E6B3A"/>
      </a:accent3>
      <a:accent4>
        <a:srgbClr val="C08A00"/>
      </a:accent4>
      <a:accent5>
        <a:srgbClr val="5B6573"/>
      </a:accent5>
      <a:accent6>
        <a:srgbClr val="D8DFEA"/>
      </a:accent6>
      <a:hlink>
        <a:srgbClr val="1F66B2"/>
      </a:hlink>
      <a:folHlink>
        <a:srgbClr val="0B2A5B"/>
      </a:folHlink>
    </a:clrScheme>
    <a:fontScheme name="WCCCD Forms Cent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WCCCD Forms Center</dc:title>
  <dc:subject>PptxGenJS Presentation</dc:subject>
  <dc:creator>Eric Crutchfield</dc:creator>
  <cp:lastModifiedBy>Eric Crutchfield</cp:lastModifiedBy>
  <cp:revision>1</cp:revision>
  <dcterms:created xsi:type="dcterms:W3CDTF">2026-10-27T09:28:56Z</dcterms:created>
  <dcterms:modified xsi:type="dcterms:W3CDTF">2026-10-27T09:28:56Z</dcterms:modified>
</cp:coreProperties>
</file>